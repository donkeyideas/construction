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FFFFFF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97280" cy="508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0">
                <a:solidFill>
                  <a:srgbClr val="FFFFFF"/>
                </a:solidFill>
                <a:latin typeface="Georgia"/>
              </a:defRPr>
            </a:pPr>
            <a:r>
              <a:t>The Unified Construction</a:t>
            </a:r>
          </a:p>
          <a:p>
            <a:pPr>
              <a:spcAft>
                <a:spcPts val="1100"/>
              </a:spcAft>
              <a:defRPr sz="2800" b="0">
                <a:solidFill>
                  <a:srgbClr val="FFFFFF"/>
                </a:solidFill>
                <a:latin typeface="Georgia"/>
              </a:defRPr>
            </a:pPr>
            <a:r>
              <a:t>Intelligence Platform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One platform to manage projects, finances,</a:t>
            </a:r>
          </a:p>
          <a:p>
            <a:pPr>
              <a:spcAft>
                <a:spcPts val="50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safety, and operations for the $1.3T</a:t>
            </a:r>
          </a:p>
          <a:p>
            <a:pPr>
              <a:spcAft>
                <a:spcPts val="500"/>
              </a:spcAft>
              <a:defRPr sz="1400" b="0">
                <a:solidFill>
                  <a:srgbClr val="D1D5DB"/>
                </a:solidFill>
                <a:latin typeface="Calibri"/>
              </a:defRPr>
            </a:pPr>
            <a:r>
              <a:t>construction industry.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Pre-Seed Round</a:t>
            </a:r>
          </a:p>
          <a:p>
            <a:pPr>
              <a:spcAft>
                <a:spcPts val="400"/>
              </a:spcAft>
              <a:defRPr sz="1000" b="0">
                <a:solidFill>
                  <a:srgbClr val="292524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2400" b="1">
                <a:solidFill>
                  <a:srgbClr val="1D4ED8"/>
                </a:solidFill>
                <a:latin typeface="Calibri"/>
              </a:defRPr>
            </a:pPr>
            <a:r>
              <a:t>$750K Target Raise</a:t>
            </a:r>
          </a:p>
          <a:p>
            <a:pPr>
              <a:spcAft>
                <a:spcPts val="700"/>
              </a:spcAft>
              <a:defRPr sz="1800" b="0">
                <a:solidFill>
                  <a:srgbClr val="78716C"/>
                </a:solidFill>
                <a:latin typeface="Calibri"/>
              </a:defRPr>
            </a:pPr>
            <a:r>
              <a:t>$4M-$6M Pre-Money Valuation</a:t>
            </a:r>
          </a:p>
          <a:p>
            <a:pPr>
              <a:spcAft>
                <a:spcPts val="400"/>
              </a:spcAft>
              <a:defRPr sz="1000" b="0">
                <a:solidFill>
                  <a:srgbClr val="292524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B45309"/>
                </a:solidFill>
                <a:latin typeface="Calibri"/>
              </a:defRPr>
            </a:pPr>
            <a:r>
              <a:t>February 2026</a:t>
            </a:r>
          </a:p>
          <a:p>
            <a:pPr>
              <a:spcAft>
                <a:spcPts val="800"/>
              </a:spcAft>
              <a:defRPr sz="2000" b="0">
                <a:solidFill>
                  <a:srgbClr val="292524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292524"/>
                </a:solidFill>
                <a:latin typeface="Calibri"/>
              </a:defRPr>
            </a:pPr>
            <a:r>
              <a:t>80,000+ lines of production code</a:t>
            </a:r>
          </a:p>
          <a:p>
            <a:pPr>
              <a:spcAft>
                <a:spcPts val="500"/>
              </a:spcAft>
              <a:defRPr sz="1400" b="0">
                <a:solidFill>
                  <a:srgbClr val="292524"/>
                </a:solidFill>
                <a:latin typeface="Calibri"/>
              </a:defRPr>
            </a:pPr>
            <a:r>
              <a:t>19 integrated modules  |  46 database tables</a:t>
            </a:r>
          </a:p>
          <a:p>
            <a:pPr>
              <a:spcAft>
                <a:spcPts val="500"/>
              </a:spcAft>
              <a:defRPr sz="1400" b="0">
                <a:solidFill>
                  <a:srgbClr val="292524"/>
                </a:solidFill>
                <a:latin typeface="Calibri"/>
              </a:defRPr>
            </a:pPr>
            <a:r>
              <a:t>461 security policies  |  9 AI providers</a:t>
            </a:r>
          </a:p>
          <a:p>
            <a:pPr>
              <a:spcAft>
                <a:spcPts val="500"/>
              </a:spcAft>
              <a:defRPr sz="1400" b="0">
                <a:solidFill>
                  <a:srgbClr val="292524"/>
                </a:solidFill>
                <a:latin typeface="Calibri"/>
              </a:defRPr>
            </a:pPr>
            <a:r>
              <a:t>13 demo datasets  |  Live 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Construction companies run on duct tape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78716C"/>
                </a:solidFill>
                <a:latin typeface="Calibri"/>
              </a:defRPr>
            </a:pPr>
            <a:r>
              <a:t>A typical mid-market GC uses 5-8 disconnected software tools costing $150K-$378K/year: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011680" cy="1645920"/>
          </a:xfrm>
          <a:prstGeom prst="rect">
            <a:avLst/>
          </a:prstGeom>
          <a:solidFill>
            <a:srgbClr val="F5F0EB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Procore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$60K-$112K/yr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Project management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286000"/>
            <a:ext cx="2011680" cy="1645920"/>
          </a:xfrm>
          <a:prstGeom prst="rect">
            <a:avLst/>
          </a:prstGeom>
          <a:solidFill>
            <a:srgbClr val="F5F0EB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423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Sage 300 CRE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88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$36K-$96K/yr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Accounting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286000"/>
            <a:ext cx="2011680" cy="1645920"/>
          </a:xfrm>
          <a:prstGeom prst="rect">
            <a:avLst/>
          </a:prstGeom>
          <a:solidFill>
            <a:srgbClr val="F5F0EB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423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SafetyCulture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788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$6K-$24K/yr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Safety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286000"/>
            <a:ext cx="2011680" cy="1645920"/>
          </a:xfrm>
          <a:prstGeom prst="rect">
            <a:avLst/>
          </a:prstGeom>
          <a:solidFill>
            <a:srgbClr val="F5F0EB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423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Box/SharePoint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88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$6K-$18K/yr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Documents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286000"/>
            <a:ext cx="2011680" cy="1645920"/>
          </a:xfrm>
          <a:prstGeom prst="rect">
            <a:avLst/>
          </a:prstGeom>
          <a:solidFill>
            <a:srgbClr val="F5F0EB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2423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ADP/Paychex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788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DC2626"/>
                </a:solidFill>
                <a:latin typeface="Calibri"/>
              </a:defRPr>
            </a:pPr>
            <a:r>
              <a:t>$12K-$36K/yr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Payroll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292524"/>
                </a:solidFill>
                <a:latin typeface="Calibri"/>
              </a:defRPr>
            </a:pPr>
            <a:r>
              <a:t>The Result: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78716C"/>
                </a:solidFill>
                <a:latin typeface="Calibri"/>
              </a:defRPr>
            </a:pPr>
            <a:r>
              <a:t>•  Change orders in Procore require manual journal entries in 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78716C"/>
                </a:solidFill>
                <a:latin typeface="Calibri"/>
              </a:defRPr>
            </a:pPr>
            <a:r>
              <a:t>•  Safety incidents don't link to project budgets for insurance accruals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78716C"/>
                </a:solidFill>
                <a:latin typeface="Calibri"/>
              </a:defRPr>
            </a:pPr>
            <a:r>
              <a:t>•  5-10% of project revenue lost to data reconciliation overhead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Buildwrk: Everything in one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Project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Gantt, RFIs, submittals, daily logs, change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Replaces Procore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3200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Financial Accounting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GL, AR/AP, job costing, financial statements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Replaces Sage/QuickBooks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3200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069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Safety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Incidents, inspections, toolbox talks, OSHA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Replaces SafetyCulture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12080"/>
            <a:ext cx="3200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212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Equipment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40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Inventory, assignments, depreciation, 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715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Replaces HCSS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1783080"/>
            <a:ext cx="3200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7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Property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Leases, units, maintenance, rent, NOI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Replaces Yardi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2926080"/>
            <a:ext cx="3200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7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59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CRM &amp; Bidding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Pipeline, proposals, bid tracking,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3429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Replaces Salesforce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069080"/>
            <a:ext cx="3200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7" y="4069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59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AI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59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9 LLM providers, natural-language data queries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59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Nothing exists like 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59" y="5212080"/>
            <a:ext cx="3200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7" y="5212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59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92524"/>
                </a:solidFill>
                <a:latin typeface="Calibri"/>
              </a:defRPr>
            </a:pPr>
            <a:r>
              <a:t>Mobile PWA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59" y="5440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Clock in/out, daily logs, photos, tasks from field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59" y="5715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Replaces ExakTime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When a change order is approved...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457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2286000"/>
            <a:ext cx="25400" cy="41148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Budget updated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Project budget reflects new contract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697480"/>
            <a:ext cx="457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715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72768" y="3154680"/>
            <a:ext cx="25400" cy="41148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Journal entry created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DR Accounts Receivable / CR Revenue (balanced)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566160"/>
            <a:ext cx="457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584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2768" y="4023360"/>
            <a:ext cx="25400" cy="41148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Contract 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Total contract value updated automatically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434840"/>
            <a:ext cx="457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453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72768" y="4892040"/>
            <a:ext cx="25400" cy="41148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Audit trail logged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Who approved, when, original vs. new amount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303520"/>
            <a:ext cx="457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321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Team notified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PM and accountant receive instant alerts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828800"/>
            <a:ext cx="3840480" cy="41148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D4ED8"/>
                </a:solidFill>
                <a:latin typeface="Georgia"/>
              </a:defRPr>
            </a:pPr>
            <a:r>
              <a:t>Zero manual entry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D4ED8"/>
                </a:solidFill>
                <a:latin typeface="Georgia"/>
              </a:defRPr>
            </a:pPr>
            <a:r>
              <a:t>Zero reconciliation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5 seconds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vs 30-60 minutes manually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749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0 errors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023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vs 6 data entry 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1 click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vs 6 separate systems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vs end-of-month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$11.6B market growing at 8.9% CAGR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25880"/>
            <a:ext cx="3200400" cy="32004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$11.6B</a:t>
            </a:r>
          </a:p>
        </p:txBody>
      </p:sp>
      <p:sp>
        <p:nvSpPr>
          <p:cNvPr id="9" name="Oval 8"/>
          <p:cNvSpPr/>
          <p:nvPr/>
        </p:nvSpPr>
        <p:spPr>
          <a:xfrm>
            <a:off x="4206240" y="1645920"/>
            <a:ext cx="2560320" cy="2560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$1.24B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0" y="2011680"/>
            <a:ext cx="1828800" cy="182880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SOM (Yr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$3.3M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292524"/>
                </a:solidFill>
                <a:latin typeface="Calibri"/>
              </a:defRPr>
            </a:pPr>
            <a:r>
              <a:t>Our Beachhead: The Underserved Mid-Market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12080"/>
            <a:ext cx="3474720" cy="12801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Small GCs ($1M-$10M)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77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650,000+ firms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$3K-$12K/yr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$1.2K-$3K Buildwrk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5212080"/>
            <a:ext cx="3474720" cy="12801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Mid-Market ($10M-$200M)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577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45,000+ firms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806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$50K-$200K/yr current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$3K-$6K Buildwrk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212080"/>
            <a:ext cx="3474720" cy="12801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Large ($200M+)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577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5,000+ firms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806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$200K-$500K/yr current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$6K+ Buildwrk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What we have that others don't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743200" cy="41148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737360"/>
            <a:ext cx="1645920" cy="41148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556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737360"/>
            <a:ext cx="1371600" cy="41148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755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737360"/>
            <a:ext cx="1828800" cy="41148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556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Buildertrend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737360"/>
            <a:ext cx="182880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7556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Buildwrk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40280"/>
            <a:ext cx="27432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494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Project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240280"/>
            <a:ext cx="164592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2494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2240280"/>
            <a:ext cx="13716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2494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240280"/>
            <a:ext cx="18288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2494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240280"/>
            <a:ext cx="18288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22494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5176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660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GAAP Accounting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265176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26609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265176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26609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6517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6609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B45309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6517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26609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063240"/>
            <a:ext cx="27432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0723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Property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3063240"/>
            <a:ext cx="164592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30723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3063240"/>
            <a:ext cx="13716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30723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063240"/>
            <a:ext cx="18288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0723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063240"/>
            <a:ext cx="18288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30723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47472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4838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Safety Compliance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80" y="347472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0" y="34838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B45309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347472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34838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347472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34838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347472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34838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886200"/>
            <a:ext cx="27432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3895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AI Analytics (9 providers)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3886200"/>
            <a:ext cx="164592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0" y="38953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3886200"/>
            <a:ext cx="13716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0" y="38953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0" y="3886200"/>
            <a:ext cx="18288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0" y="38953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03920" y="3886200"/>
            <a:ext cx="18288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95360" y="38953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29768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43068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Multi-tenant Portals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83280" y="429768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0" y="43068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B45309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429768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12080" y="43068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0" y="429768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43068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03920" y="429768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95360" y="43068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4709160"/>
            <a:ext cx="27432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718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Mobile PWA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83280" y="4709160"/>
            <a:ext cx="164592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74720" y="47183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20640" y="4709160"/>
            <a:ext cx="13716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12080" y="47183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0" y="4709160"/>
            <a:ext cx="18288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75120" y="47183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03920" y="4709160"/>
            <a:ext cx="1828800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95360" y="47183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512064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5129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Annual Cost (25 users)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83280" y="512064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74720" y="51297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$60K-$112K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20640" y="512064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212080" y="512978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$36K-$96K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83680" y="51206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75120" y="51297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$6K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03920" y="51206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95360" y="51297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1D4ED8"/>
                </a:solidFill>
                <a:latin typeface="Calibri"/>
              </a:defRPr>
            </a:pPr>
            <a:r>
              <a:t>$3K-$6K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SaaS subscription with expansion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92524"/>
                </a:solidFill>
                <a:latin typeface="Georgia"/>
              </a:defRPr>
            </a:pPr>
            <a: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292524"/>
                </a:solidFill>
                <a:latin typeface="Calibri"/>
              </a:defRPr>
            </a:pPr>
            <a:r>
              <a:t>$99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78716C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3291840"/>
            <a:ext cx="914400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Up to 5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3 active 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PM + Safety +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CSV import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Email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1737360"/>
            <a:ext cx="329184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79" y="1600200"/>
            <a:ext cx="182880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9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MOST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Professional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292524"/>
                </a:solidFill>
                <a:latin typeface="Calibri"/>
              </a:defRPr>
            </a:pPr>
            <a:r>
              <a:t>$249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2971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78716C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79" y="3291840"/>
            <a:ext cx="914400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Up to 25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15 active 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+ Financial + Equipment + 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CSV + Excel import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Priority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737360"/>
            <a:ext cx="3291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92524"/>
                </a:solidFill>
                <a:latin typeface="Georgia"/>
              </a:defRPr>
            </a:pPr>
            <a:r>
              <a:t>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68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292524"/>
                </a:solidFill>
                <a:latin typeface="Calibri"/>
              </a:defRPr>
            </a:pPr>
            <a:r>
              <a:t>$499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971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78716C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3291840"/>
            <a:ext cx="914400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Unlimited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Unlimited projects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+ Property + AI + Portals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+ P6/MSP + QuickBooks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92524"/>
                </a:solidFill>
                <a:latin typeface="Calibri"/>
              </a:defRPr>
            </a:pPr>
            <a:r>
              <a:t>✓  Dedicated CSM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ARPA: $250/mo  |  LTV: $9,000  |  CAC: $500-$1,500  |  LTV:CAC: 6x-18x  |  Gross Margin: 85%+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What's built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80,000+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828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TypeScript + SQL +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646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28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Source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100% 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737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177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REST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80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178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Application Pages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Full app router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880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Full relational schema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880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461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Security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Row-Level Security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DB Migrations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389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Progressive evolution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023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AI Providers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389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30+ models supported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023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Demo Datasets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4389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Stadium to residential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166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212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Financial engine covered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5166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5212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Feature Modules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PM to AI to property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5166360"/>
            <a:ext cx="3474720" cy="9601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5212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D4ED8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92524"/>
                </a:solidFill>
                <a:latin typeface="Calibri"/>
              </a:defRPr>
            </a:pPr>
            <a:r>
              <a:t>User Portals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Tenant, vendor, employee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B45309"/>
                </a:solidFill>
                <a:latin typeface="Calibri"/>
              </a:defRPr>
            </a:pPr>
            <a:r>
              <a:t>Development equivalent: 12-18 months of a 3-4 person engineering team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Path to $1M ARR in 24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Q2 '26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783080"/>
            <a:ext cx="80010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755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MRR: $1.2K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92524"/>
                </a:solidFill>
                <a:latin typeface="Calibri"/>
              </a:defRPr>
            </a:pPr>
            <a:r>
              <a:t>5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4ED8"/>
                </a:solidFill>
                <a:latin typeface="Calibri"/>
              </a:defRPr>
            </a:pPr>
            <a:r>
              <a:t>ARR: $15K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Q3 '26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331720"/>
            <a:ext cx="160020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304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MRR: $3.8K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92524"/>
                </a:solidFill>
                <a:latin typeface="Calibri"/>
              </a:defRPr>
            </a:pPr>
            <a:r>
              <a:t>15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4ED8"/>
                </a:solidFill>
                <a:latin typeface="Calibri"/>
              </a:defRPr>
            </a:pPr>
            <a:r>
              <a:t>ARR: $45K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3463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Q4 '26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880359"/>
            <a:ext cx="240030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8529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MRR: $8.3K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346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92524"/>
                </a:solidFill>
                <a:latin typeface="Calibri"/>
              </a:defRPr>
            </a:pPr>
            <a:r>
              <a:t>35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8346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4ED8"/>
                </a:solidFill>
                <a:latin typeface="Calibri"/>
              </a:defRPr>
            </a:pPr>
            <a:r>
              <a:t>ARR: $99K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327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Q1 '27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428999"/>
            <a:ext cx="320040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340156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MRR: $15K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3832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92524"/>
                </a:solidFill>
                <a:latin typeface="Calibri"/>
              </a:defRPr>
            </a:pPr>
            <a:r>
              <a:t>60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33832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4ED8"/>
                </a:solidFill>
                <a:latin typeface="Calibri"/>
              </a:defRPr>
            </a:pPr>
            <a:r>
              <a:t>ARR: $180K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319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Q2 '27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3977640"/>
            <a:ext cx="400050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3950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MRR: $25K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92524"/>
                </a:solidFill>
                <a:latin typeface="Calibri"/>
              </a:defRPr>
            </a:pPr>
            <a:r>
              <a:t>100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4ED8"/>
                </a:solidFill>
                <a:latin typeface="Calibri"/>
              </a:defRPr>
            </a:pPr>
            <a:r>
              <a:t>ARR: $300K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Q3 '27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4526280"/>
            <a:ext cx="480060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4498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MRR: $38K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92524"/>
                </a:solidFill>
                <a:latin typeface="Calibri"/>
              </a:defRPr>
            </a:pPr>
            <a:r>
              <a:t>150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4ED8"/>
                </a:solidFill>
                <a:latin typeface="Calibri"/>
              </a:defRPr>
            </a:pPr>
            <a:r>
              <a:t>ARR: $450K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0292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Q4 '27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5074920"/>
            <a:ext cx="560070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0" y="5047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MRR: $63K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92524"/>
                </a:solidFill>
                <a:latin typeface="Calibri"/>
              </a:defRPr>
            </a:pPr>
            <a:r>
              <a:t>250 customers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4ED8"/>
                </a:solidFill>
                <a:latin typeface="Calibri"/>
              </a:defRPr>
            </a:pPr>
            <a:r>
              <a:t>ARR: $750K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92524"/>
                </a:solidFill>
                <a:latin typeface="Calibri"/>
              </a:defRPr>
            </a:pPr>
            <a:r>
              <a:t>Q1 '28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54480" y="5623560"/>
            <a:ext cx="64008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0" y="5596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MRR: $88K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92524"/>
                </a:solidFill>
                <a:latin typeface="Calibri"/>
              </a:defRPr>
            </a:pPr>
            <a:r>
              <a:t>350 customers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D4ED8"/>
                </a:solidFill>
                <a:latin typeface="Calibri"/>
              </a:defRPr>
            </a:pPr>
            <a:r>
              <a:t>ARR: $1.05M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78716C"/>
                </a:solidFill>
                <a:latin typeface="Calibri"/>
              </a:defRPr>
            </a:pPr>
            <a:r>
              <a:t>Assumptions:  ARPA $250/mo  |  5% monthly growth  |  &lt;3% churn  |  CAC payback 3-6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Pre-Seed: $750K at $4M-$6M pre-money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92608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Sales &amp; Marketing  —  $300K (40%)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First 50 customers, content, trade shows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21945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Engineering  —  $225K (30%)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Test coverage, QuickBooks sync,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49039"/>
            <a:ext cx="1463040" cy="4572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Operations  —  $150K (20%)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Infrastructure, support, legal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54880"/>
            <a:ext cx="731520" cy="457200"/>
          </a:xfrm>
          <a:prstGeom prst="rect">
            <a:avLst/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Reserve  —  $75K (10%)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Working capital buffer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Milestones this round enables: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292524"/>
                </a:solidFill>
                <a:latin typeface="Calibri"/>
              </a:defRPr>
            </a:pPr>
            <a:r>
              <a:t>✓  First 50 paying customers ($12K+ MRR)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292524"/>
                </a:solidFill>
                <a:latin typeface="Calibri"/>
              </a:defRPr>
            </a:pPr>
            <a:r>
              <a:t>✓  Product-market fit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292524"/>
                </a:solidFill>
                <a:latin typeface="Calibri"/>
              </a:defRPr>
            </a:pPr>
            <a:r>
              <a:t>✓  Complete QuickBooks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629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292524"/>
                </a:solidFill>
                <a:latin typeface="Calibri"/>
              </a:defRPr>
            </a:pPr>
            <a:r>
              <a:t>✓  Seed-ready metrics for $2M-$5M raise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D4ED8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92524"/>
                </a:solidFill>
                <a:latin typeface="Georgia"/>
              </a:defRPr>
            </a:pPr>
            <a:r>
              <a:t>Four converging tailwinds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03520" cy="19202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AI Maturity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LLMs can now understand construction-specific context. Buildwrk is the first platform to put AI on real construction data with function calling.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828800"/>
            <a:ext cx="5303520" cy="19202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39" y="2011680"/>
            <a:ext cx="457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011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Cloud Adoption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19" y="246888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COVID forced construction to accept cloud software. The laggard industry is now the fastest-growing SaaS adoption segment.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5303520" cy="19202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97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Infrastructure Spending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5488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The $1.2T Infrastructure Investment and Jobs Act creates thousands of new projects needing management software.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4114800"/>
            <a:ext cx="5303520" cy="19202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39" y="4297680"/>
            <a:ext cx="457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39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297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92524"/>
                </a:solidFill>
                <a:latin typeface="Calibri"/>
              </a:defRPr>
            </a:pPr>
            <a:r>
              <a:t>Generational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9" y="475488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8716C"/>
                </a:solidFill>
                <a:latin typeface="Calibri"/>
              </a:defRPr>
            </a:pPr>
            <a:r>
              <a:t>Millennial PMs and superintendents expect modern, mobile-first software. They won't tolerate 1990s interfaces.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FFFFFF"/>
                </a:solidFill>
                <a:latin typeface="Georgia"/>
              </a:defRPr>
            </a:pPr>
            <a:r>
              <a:t>Buildwrk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508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FFFFFF"/>
                </a:solidFill>
                <a:latin typeface="Georgia"/>
              </a:defRPr>
            </a:pPr>
            <a:r>
              <a:t>The Unified Construction</a:t>
            </a:r>
          </a:p>
          <a:p>
            <a:pPr>
              <a:spcAft>
                <a:spcPts val="900"/>
              </a:spcAft>
              <a:defRPr sz="2400" b="0">
                <a:solidFill>
                  <a:srgbClr val="FFFFFF"/>
                </a:solidFill>
                <a:latin typeface="Georgia"/>
              </a:defRPr>
            </a:pPr>
            <a:r>
              <a:t>Intelligence Platform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"Every hour spent reconciling data</a:t>
            </a:r>
          </a:p>
          <a:p>
            <a:pPr>
              <a:spcAft>
                <a:spcPts val="50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between disconnected tools is an hour</a:t>
            </a:r>
          </a:p>
          <a:p>
            <a:pPr>
              <a:spcAft>
                <a:spcPts val="50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t>not spent building."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828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292524"/>
                </a:solidFill>
                <a:latin typeface="Georgia"/>
              </a:defRPr>
            </a:pPr>
            <a:r>
              <a:t>Let's Talk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423160"/>
            <a:ext cx="73152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78716C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292524"/>
                </a:solidFill>
                <a:latin typeface="Calibri"/>
              </a:defRPr>
            </a:pPr>
            <a:r>
              <a:t>construction-gamma-six.vercel.app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78716C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383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292524"/>
                </a:solidFill>
                <a:latin typeface="Calibri"/>
              </a:defRPr>
            </a:pPr>
            <a:r>
              <a:t>[your-email@domain.com]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78716C"/>
                </a:solidFill>
                <a:latin typeface="Calibri"/>
              </a:defRPr>
            </a:pPr>
            <a:r>
              <a:t>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023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292524"/>
                </a:solidFill>
                <a:latin typeface="Calibri"/>
              </a:defRPr>
            </a:pPr>
            <a:r>
              <a:t>[your-phone-number]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78716C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66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292524"/>
                </a:solidFill>
                <a:latin typeface="Calibri"/>
              </a:defRPr>
            </a:pPr>
            <a:r>
              <a:t>[your-city, state]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303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16C"/>
                </a:solidFill>
                <a:latin typeface="Calibri"/>
              </a:defRPr>
            </a:pPr>
            <a:r>
              <a:t>This pitch deck is confidential.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78716C"/>
                </a:solidFill>
                <a:latin typeface="Calibr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